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Welcome the room; frame the session: a full data read-out on who drops out and why.
- Scale: 100,000 student records across 34 variables — the entire cohort under inspection.
- Data quality is perfect: 0 missing values, 0 duplicates — every finding runs on clean fields.
- Anchor the headline: 32.0% dropout rate — effectively 1 in 3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four cards: 32.0% overall; the GPA cliff 83.5% → 2.4% (a 35x spread); the income gap 42.9% vs 20.0% (2.1x); and 0 missing values or duplicates.
- The GPA gradient is the steepest signal in the entire dataset — a cliff, not a slope.
- Income is the strongest demographic factor — but still smaller than the academic cliff.
- Land the takeaway line: risk is concentrated, and concentrated risk is targetable.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Read the chart left to right: 83.5% below GPA 1.0 → 45.4% → 12.6% → 2.4% at GPA 3–4. A cliff, not a slope.
- Behavior trails grades: attendance 67.9% vs 78.5%, assignments 63.4% vs 75.2%, missed deadlines 3.4 vs 1.9.
- Preempt the counterpoint: admission grades barely differ (128 vs 136 / 200) — students don't arrive doomed, they disengage after arrival.
- Engagement fades first — library visits 3.2 vs 4.9/month, LMS logins 6.1 vs 7.8/week — that is the early-warning window.
- All effects: Welch t-tests, p &lt; 0.001, n = 100,000.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Income gradient: Low 42.9% · Middle 30.0% · High 20.0% — Cramér's V = 0.19, the strongest categorical factor.
- Work hours show a dose-response: 24.7% with no job rising to 46.0% at 21–40 h/week — risk nearly doubles.
- Overdue tuition is the cheap, checkable red flag: 44.2% vs 28.7% for students current on payments.
- First-generation students 37.4% vs 28.1% — but state the honest null: scholarship holders show no difference (31.1% vs 33.2%).
- Methods: chi-square independence tests + Cramér's V; all reported effects p &lt; 0.001.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Read the ranking top-down: standardized logistic regression — GPA (−0.93) towers over everything; tuition status is the top financial factor.
- Action 1: flag semester-1 GPA &lt; 2.0 AND attendance &lt; 75% → outreach in week 1 of semester 2.
- Action 2: target the financial cluster — low income + 11+ work hours + overdue tuition; three cheap, identifiable flags.
- Action 3: monitor LMS logins and attendance weekly — they fall weeks before the GPA crash.
- State the nulls plainly (gender, nationality, course type, international status — no effect), then close on the final line: the risks that matter are the ones we can see coming.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86725" y="0"/>
            <a:ext cx="1057275" cy="5143500"/>
          </a:xfrm>
          <a:prstGeom prst="rect">
            <a:avLst/>
          </a:prstGeom>
          <a:solidFill>
            <a:srgbClr val="EF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8090297" y="0"/>
            <a:ext cx="0" cy="5143500"/>
          </a:xfrm>
          <a:prstGeom prst="line">
            <a:avLst/>
          </a:prstGeom>
          <a:noFill/>
          <a:ln w="7144">
            <a:solidFill>
              <a:srgbClr val="DCE4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 rot="5400000">
            <a:off x="8093869" y="2510079"/>
            <a:ext cx="10501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spc="220" kern="0" dirty="0">
                <a:solidFill>
                  <a:srgbClr val="8494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LEAVES · AND WHY</a:t>
            </a:r>
            <a:endParaRPr lang="en-US" sz="647" dirty="0"/>
          </a:p>
        </p:txBody>
      </p:sp>
      <p:sp>
        <p:nvSpPr>
          <p:cNvPr id="5" name="Text 3"/>
          <p:cNvSpPr/>
          <p:nvPr/>
        </p:nvSpPr>
        <p:spPr>
          <a:xfrm>
            <a:off x="5514975" y="1359098"/>
            <a:ext cx="2114550" cy="2114550"/>
          </a:xfrm>
          <a:prstGeom prst="ellipse">
            <a:avLst/>
          </a:prstGeom>
          <a:solidFill>
            <a:srgbClr val="E3E8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00725" y="1644848"/>
            <a:ext cx="1543050" cy="1543050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00725" y="2046684"/>
            <a:ext cx="1543050" cy="5726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4388"/>
              </a:lnSpc>
              <a:buNone/>
            </a:pPr>
            <a:r>
              <a:rPr lang="en-US" sz="2925" spc="-58" kern="0" dirty="0">
                <a:solidFill>
                  <a:srgbClr val="CC33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32.0%</a:t>
            </a:r>
            <a:endParaRPr lang="en-US" sz="2925" dirty="0"/>
          </a:p>
        </p:txBody>
      </p:sp>
      <p:sp>
        <p:nvSpPr>
          <p:cNvPr id="8" name="Text 6"/>
          <p:cNvSpPr/>
          <p:nvPr/>
        </p:nvSpPr>
        <p:spPr>
          <a:xfrm>
            <a:off x="6255735" y="2646759"/>
            <a:ext cx="6330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dropped out</a:t>
            </a:r>
            <a:endParaRPr lang="en-US" sz="731" dirty="0"/>
          </a:p>
        </p:txBody>
      </p:sp>
      <p:sp>
        <p:nvSpPr>
          <p:cNvPr id="9" name="Text 7"/>
          <p:cNvSpPr/>
          <p:nvPr/>
        </p:nvSpPr>
        <p:spPr>
          <a:xfrm>
            <a:off x="5430393" y="3602236"/>
            <a:ext cx="2283714" cy="19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4A5A6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that is </a:t>
            </a:r>
            <a:pPr algn="ctr" indent="0" marL="0">
              <a:lnSpc>
                <a:spcPts val="1434"/>
              </a:lnSpc>
              <a:buNone/>
            </a:pPr>
            <a:r>
              <a:rPr lang="en-US" sz="956" b="1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in every 3</a:t>
            </a:r>
            <a:pPr algn="ctr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4A5A6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students</a:t>
            </a:r>
            <a:endParaRPr lang="en-US" sz="956" dirty="0"/>
          </a:p>
        </p:txBody>
      </p:sp>
      <p:sp>
        <p:nvSpPr>
          <p:cNvPr id="10" name="Text 8"/>
          <p:cNvSpPr/>
          <p:nvPr/>
        </p:nvSpPr>
        <p:spPr>
          <a:xfrm>
            <a:off x="685800" y="1193118"/>
            <a:ext cx="185738" cy="14288"/>
          </a:xfrm>
          <a:prstGeom prst="rect">
            <a:avLst/>
          </a:prstGeom>
          <a:solidFill>
            <a:srgbClr val="4C6E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57263" y="1130610"/>
            <a:ext cx="43005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02" kern="0" dirty="0">
                <a:solidFill>
                  <a:srgbClr val="4C6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READ-OUT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85800" y="1512801"/>
            <a:ext cx="314325" cy="28575"/>
          </a:xfrm>
          <a:prstGeom prst="roundRect">
            <a:avLst>
              <a:gd name="adj" fmla="val 66667"/>
            </a:avLst>
          </a:prstGeom>
          <a:solidFill>
            <a:srgbClr val="4C6E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800" y="1698538"/>
            <a:ext cx="5029200" cy="1176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88"/>
              </a:lnSpc>
              <a:buNone/>
            </a:pPr>
            <a:r>
              <a:rPr lang="en-US" sz="4046" b="1" spc="-61" kern="0" dirty="0">
                <a:solidFill>
                  <a:srgbClr val="24344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Student Dropout</a:t>
            </a:r>
            <a:endParaRPr lang="en-US" sz="4046" dirty="0"/>
          </a:p>
          <a:p>
            <a:pPr algn="l" indent="0" marL="0">
              <a:lnSpc>
                <a:spcPts val="4288"/>
              </a:lnSpc>
              <a:buNone/>
            </a:pPr>
            <a:r>
              <a:rPr lang="en-US" sz="4046" b="1" spc="-61" kern="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Risk 2026</a:t>
            </a:r>
            <a:endParaRPr lang="en-US" sz="4046" dirty="0"/>
          </a:p>
        </p:txBody>
      </p:sp>
      <p:sp>
        <p:nvSpPr>
          <p:cNvPr id="14" name="Text 12"/>
          <p:cNvSpPr/>
          <p:nvPr/>
        </p:nvSpPr>
        <p:spPr>
          <a:xfrm>
            <a:off x="685800" y="2959187"/>
            <a:ext cx="4286250" cy="524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</a:t>
            </a:r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100,000</a:t>
            </a:r>
            <a:pPr algn="l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student records tell us about who leaves — and why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685800" y="3703623"/>
            <a:ext cx="1025686" cy="322069"/>
          </a:xfrm>
          <a:prstGeom prst="roundRect">
            <a:avLst>
              <a:gd name="adj" fmla="val 2954483"/>
            </a:avLst>
          </a:prstGeom>
          <a:solidFill>
            <a:srgbClr val="EFF3FF"/>
          </a:solidFill>
          <a:ln w="7144">
            <a:solidFill>
              <a:srgbClr val="DCE4F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54509" y="3809293"/>
            <a:ext cx="499839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records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7244" y="3795006"/>
            <a:ext cx="78279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100,000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797211" y="3703623"/>
            <a:ext cx="809030" cy="322069"/>
          </a:xfrm>
          <a:prstGeom prst="roundRect">
            <a:avLst>
              <a:gd name="adj" fmla="val 2954483"/>
            </a:avLst>
          </a:prstGeom>
          <a:solidFill>
            <a:srgbClr val="EFF3FF"/>
          </a:solidFill>
          <a:ln w="7144">
            <a:solidFill>
              <a:srgbClr val="DCE4F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069891" y="3809293"/>
            <a:ext cx="596636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variables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918655" y="3795006"/>
            <a:ext cx="56614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91966" y="3703623"/>
            <a:ext cx="1105384" cy="322069"/>
          </a:xfrm>
          <a:prstGeom prst="roundRect">
            <a:avLst>
              <a:gd name="adj" fmla="val 2954483"/>
            </a:avLst>
          </a:prstGeom>
          <a:solidFill>
            <a:srgbClr val="EFF3FF"/>
          </a:solidFill>
          <a:ln w="7144">
            <a:solidFill>
              <a:srgbClr val="DCE4F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149278" y="3809293"/>
            <a:ext cx="2108522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dropout rate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13410" y="3795006"/>
            <a:ext cx="86249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CC33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32.0%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" y="4518422"/>
            <a:ext cx="3714750" cy="7144"/>
          </a:xfrm>
          <a:prstGeom prst="rect">
            <a:avLst/>
          </a:prstGeom>
          <a:solidFill>
            <a:srgbClr val="E3E8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85800" y="4625578"/>
            <a:ext cx="3714750" cy="173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inspection · deep-dive analysis · read-out deck — </a:t>
            </a:r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4A5A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October 2026</a:t>
            </a:r>
            <a:endParaRPr lang="en-US" sz="73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314325" cy="28575"/>
          </a:xfrm>
          <a:prstGeom prst="roundRect">
            <a:avLst>
              <a:gd name="adj" fmla="val 66667"/>
            </a:avLst>
          </a:prstGeom>
          <a:solidFill>
            <a:srgbClr val="4C6E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14350"/>
            <a:ext cx="863600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24344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headline numbers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57200" y="995772"/>
            <a:ext cx="4043363" cy="1560240"/>
          </a:xfrm>
          <a:prstGeom prst="roundRect">
            <a:avLst>
              <a:gd name="adj" fmla="val 8547"/>
            </a:avLst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57200" y="1006487"/>
            <a:ext cx="4043363" cy="0"/>
          </a:xfrm>
          <a:prstGeom prst="line">
            <a:avLst/>
          </a:prstGeom>
          <a:noFill/>
          <a:ln w="21431">
            <a:solidFill>
              <a:srgbClr val="CC33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96991" y="995772"/>
            <a:ext cx="0" cy="1560240"/>
          </a:xfrm>
          <a:prstGeom prst="line">
            <a:avLst/>
          </a:prstGeom>
          <a:noFill/>
          <a:ln w="7144">
            <a:solidFill>
              <a:srgbClr val="E3E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552440"/>
            <a:ext cx="4043363" cy="0"/>
          </a:xfrm>
          <a:prstGeom prst="line">
            <a:avLst/>
          </a:prstGeom>
          <a:noFill/>
          <a:ln w="7144">
            <a:solidFill>
              <a:srgbClr val="E3E8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0772" y="995772"/>
            <a:ext cx="0" cy="1560240"/>
          </a:xfrm>
          <a:prstGeom prst="line">
            <a:avLst/>
          </a:prstGeom>
          <a:noFill/>
          <a:ln w="7144">
            <a:solidFill>
              <a:srgbClr val="E3E8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2944" y="1345704"/>
            <a:ext cx="3571875" cy="44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spc="-65" kern="0" dirty="0">
                <a:solidFill>
                  <a:srgbClr val="CC33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32.0%</a:t>
            </a:r>
            <a:endParaRPr lang="en-US" sz="3263" dirty="0"/>
          </a:p>
        </p:txBody>
      </p:sp>
      <p:sp>
        <p:nvSpPr>
          <p:cNvPr id="10" name="Text 8"/>
          <p:cNvSpPr/>
          <p:nvPr/>
        </p:nvSpPr>
        <p:spPr>
          <a:xfrm>
            <a:off x="692944" y="1860054"/>
            <a:ext cx="3571875" cy="176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students dropped out</a:t>
            </a:r>
            <a:endParaRPr lang="en-US" sz="956" dirty="0"/>
          </a:p>
        </p:txBody>
      </p:sp>
      <p:sp>
        <p:nvSpPr>
          <p:cNvPr id="11" name="Text 9"/>
          <p:cNvSpPr/>
          <p:nvPr/>
        </p:nvSpPr>
        <p:spPr>
          <a:xfrm>
            <a:off x="692944" y="2081064"/>
            <a:ext cx="35718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32,004 of 100,000 records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47009" y="999344"/>
            <a:ext cx="4036219" cy="1553096"/>
          </a:xfrm>
          <a:prstGeom prst="roundRect">
            <a:avLst>
              <a:gd name="adj" fmla="val 8586"/>
            </a:avLst>
          </a:prstGeom>
          <a:solidFill>
            <a:srgbClr val="F7F9FC"/>
          </a:solidFill>
          <a:ln w="7144">
            <a:solidFill>
              <a:srgbClr val="E3E8E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79181" y="1338560"/>
            <a:ext cx="3571875" cy="44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spc="-65" kern="0" dirty="0">
                <a:solidFill>
                  <a:srgbClr val="CC33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83.5%</a:t>
            </a:r>
            <a:pPr algn="l" indent="0" marL="0">
              <a:lnSpc>
                <a:spcPts val="3263"/>
              </a:lnSpc>
              <a:buNone/>
            </a:pPr>
            <a:r>
              <a:rPr lang="en-US" sz="2023" spc="-65" kern="0" dirty="0">
                <a:solidFill>
                  <a:srgbClr val="8494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</a:t>
            </a:r>
            <a:pPr algn="l" indent="0" marL="0">
              <a:lnSpc>
                <a:spcPts val="3263"/>
              </a:lnSpc>
              <a:buNone/>
            </a:pPr>
            <a:r>
              <a:rPr lang="en-US" sz="3263" spc="-65" kern="0" dirty="0">
                <a:solidFill>
                  <a:srgbClr val="4C6E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2.4%</a:t>
            </a:r>
            <a:endParaRPr lang="en-US" sz="3263" dirty="0"/>
          </a:p>
        </p:txBody>
      </p:sp>
      <p:sp>
        <p:nvSpPr>
          <p:cNvPr id="14" name="Text 12"/>
          <p:cNvSpPr/>
          <p:nvPr/>
        </p:nvSpPr>
        <p:spPr>
          <a:xfrm>
            <a:off x="4879181" y="1852910"/>
            <a:ext cx="3681603" cy="17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dropout rate, GPA &lt;1.0 vs GPA 3–4</a:t>
            </a:r>
            <a:endParaRPr lang="en-US" sz="956" dirty="0"/>
          </a:p>
        </p:txBody>
      </p:sp>
      <p:sp>
        <p:nvSpPr>
          <p:cNvPr id="15" name="Text 13"/>
          <p:cNvSpPr/>
          <p:nvPr/>
        </p:nvSpPr>
        <p:spPr>
          <a:xfrm>
            <a:off x="4879181" y="2073920"/>
            <a:ext cx="36816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35x spread — GPA behaves like a cliff, not a slope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0772" y="2702458"/>
            <a:ext cx="4036219" cy="1553096"/>
          </a:xfrm>
          <a:prstGeom prst="roundRect">
            <a:avLst>
              <a:gd name="adj" fmla="val 8586"/>
            </a:avLst>
          </a:prstGeom>
          <a:solidFill>
            <a:srgbClr val="F7F9FC"/>
          </a:solidFill>
          <a:ln w="7144">
            <a:solidFill>
              <a:srgbClr val="E3E8E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2944" y="3041675"/>
            <a:ext cx="3571875" cy="44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spc="-65" kern="0" dirty="0">
                <a:solidFill>
                  <a:srgbClr val="CC331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42.9%</a:t>
            </a:r>
            <a:pPr algn="l" indent="0" marL="0">
              <a:lnSpc>
                <a:spcPts val="3263"/>
              </a:lnSpc>
              <a:buNone/>
            </a:pPr>
            <a:r>
              <a:rPr lang="en-US" sz="2023" spc="-65" kern="0" dirty="0">
                <a:solidFill>
                  <a:srgbClr val="8494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vs</a:t>
            </a:r>
            <a:pPr algn="l" indent="0" marL="0">
              <a:lnSpc>
                <a:spcPts val="3263"/>
              </a:lnSpc>
              <a:buNone/>
            </a:pPr>
            <a:r>
              <a:rPr lang="en-US" sz="3263" spc="-65" kern="0" dirty="0">
                <a:solidFill>
                  <a:srgbClr val="4C6E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20.0%</a:t>
            </a:r>
            <a:endParaRPr lang="en-US" sz="3263" dirty="0"/>
          </a:p>
        </p:txBody>
      </p:sp>
      <p:sp>
        <p:nvSpPr>
          <p:cNvPr id="18" name="Text 16"/>
          <p:cNvSpPr/>
          <p:nvPr/>
        </p:nvSpPr>
        <p:spPr>
          <a:xfrm>
            <a:off x="692944" y="3556025"/>
            <a:ext cx="3681603" cy="17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low-income vs high-income dropout rate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692944" y="3777035"/>
            <a:ext cx="36816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2.1x gap — the strongest demographic factor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43438" y="2698886"/>
            <a:ext cx="4043363" cy="1560240"/>
          </a:xfrm>
          <a:prstGeom prst="roundRect">
            <a:avLst>
              <a:gd name="adj" fmla="val 8547"/>
            </a:avLst>
          </a:prstGeom>
          <a:solidFill>
            <a:srgbClr val="F7F9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43438" y="2709602"/>
            <a:ext cx="4043363" cy="0"/>
          </a:xfrm>
          <a:prstGeom prst="line">
            <a:avLst/>
          </a:prstGeom>
          <a:noFill/>
          <a:ln w="21431">
            <a:solidFill>
              <a:srgbClr val="4C6E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3228" y="2698886"/>
            <a:ext cx="0" cy="1560240"/>
          </a:xfrm>
          <a:prstGeom prst="line">
            <a:avLst/>
          </a:prstGeom>
          <a:noFill/>
          <a:ln w="7144">
            <a:solidFill>
              <a:srgbClr val="E3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43438" y="4255554"/>
            <a:ext cx="4043363" cy="0"/>
          </a:xfrm>
          <a:prstGeom prst="line">
            <a:avLst/>
          </a:prstGeom>
          <a:noFill/>
          <a:ln w="7144">
            <a:solidFill>
              <a:srgbClr val="E3E8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47009" y="2698886"/>
            <a:ext cx="0" cy="1560240"/>
          </a:xfrm>
          <a:prstGeom prst="line">
            <a:avLst/>
          </a:prstGeom>
          <a:noFill/>
          <a:ln w="7144">
            <a:solidFill>
              <a:srgbClr val="E3E8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9181" y="3048819"/>
            <a:ext cx="3571875" cy="44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3263" spc="-65" kern="0" dirty="0">
                <a:solidFill>
                  <a:srgbClr val="4C6EF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3263" dirty="0"/>
          </a:p>
        </p:txBody>
      </p:sp>
      <p:sp>
        <p:nvSpPr>
          <p:cNvPr id="26" name="Text 24"/>
          <p:cNvSpPr/>
          <p:nvPr/>
        </p:nvSpPr>
        <p:spPr>
          <a:xfrm>
            <a:off x="4879181" y="3563169"/>
            <a:ext cx="3681603" cy="176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1"/>
              </a:lnSpc>
              <a:buNone/>
            </a:pPr>
            <a:r>
              <a:rPr lang="en-US" sz="956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missing values and duplicate records</a:t>
            </a:r>
            <a:endParaRPr lang="en-US" sz="956" dirty="0"/>
          </a:p>
        </p:txBody>
      </p:sp>
      <p:sp>
        <p:nvSpPr>
          <p:cNvPr id="27" name="Text 25"/>
          <p:cNvSpPr/>
          <p:nvPr/>
        </p:nvSpPr>
        <p:spPr>
          <a:xfrm>
            <a:off x="4879181" y="3784178"/>
            <a:ext cx="35718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 34 fields pass range validation — no cleaning needed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0772" y="4405573"/>
            <a:ext cx="8222456" cy="391455"/>
          </a:xfrm>
          <a:prstGeom prst="roundRect">
            <a:avLst>
              <a:gd name="adj" fmla="val 29199"/>
            </a:avLst>
          </a:prstGeom>
          <a:solidFill>
            <a:srgbClr val="EFF3FF"/>
          </a:solidFill>
          <a:ln w="7144">
            <a:solidFill>
              <a:srgbClr val="DCE4F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0081" y="4522663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C6EF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30" name="Text 28"/>
          <p:cNvSpPr/>
          <p:nvPr/>
        </p:nvSpPr>
        <p:spPr>
          <a:xfrm>
            <a:off x="907256" y="4516301"/>
            <a:ext cx="7586663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9"/>
              </a:lnSpc>
              <a:buNone/>
            </a:pPr>
            <a:r>
              <a:rPr lang="en-US" sz="956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Risk is concentrated, not evenly spread — </a:t>
            </a:r>
            <a:pPr algn="l" indent="0" marL="0">
              <a:lnSpc>
                <a:spcPts val="1339"/>
              </a:lnSpc>
              <a:buNone/>
            </a:pPr>
            <a:r>
              <a:rPr lang="en-US" sz="956" b="1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and concentrated risk is targetable.</a:t>
            </a:r>
            <a:endParaRPr lang="en-US" sz="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314325" cy="28575"/>
          </a:xfrm>
          <a:prstGeom prst="roundRect">
            <a:avLst>
              <a:gd name="adj" fmla="val 66667"/>
            </a:avLst>
          </a:prstGeom>
          <a:solidFill>
            <a:srgbClr val="4C6E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14350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24344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Academic signals — grades and engagement diverge early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60772" y="985056"/>
            <a:ext cx="4521994" cy="3091235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7144">
            <a:solidFill>
              <a:srgbClr val="E3E8EF"/>
            </a:solidFill>
            <a:prstDash val="solid"/>
          </a:ln>
          <a:effectLst>
            <a:outerShdw sx="100000" sy="100000" kx="0" ky="0" algn="bl" rotWithShape="0" blurRad="209550" dist="76200" dir="5400000">
              <a:srgbClr val="243447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h2p-fit-1792661520922-x6vsc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356" y="1088641"/>
            <a:ext cx="4314825" cy="26751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4356" y="3849477"/>
            <a:ext cx="4314825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Dropout rate by semester-2 GPA band — 83.5% / 45.4% / 12.6% / 2.4%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272088" y="1060066"/>
            <a:ext cx="64294" cy="64294"/>
          </a:xfrm>
          <a:prstGeom prst="roundRect">
            <a:avLst>
              <a:gd name="adj" fmla="val 29630"/>
            </a:avLst>
          </a:prstGeom>
          <a:solidFill>
            <a:srgbClr val="CC33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422106" y="1010059"/>
            <a:ext cx="3264694" cy="37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GPA gap is huge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dropouts averaged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1.91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2.88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in semester 1 (Cohen's d ≈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1.5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72" dirty="0"/>
          </a:p>
        </p:txBody>
      </p:sp>
      <p:sp>
        <p:nvSpPr>
          <p:cNvPr id="9" name="Shape 6"/>
          <p:cNvSpPr/>
          <p:nvPr/>
        </p:nvSpPr>
        <p:spPr>
          <a:xfrm>
            <a:off x="5272088" y="1457437"/>
            <a:ext cx="3414713" cy="0"/>
          </a:xfrm>
          <a:prstGeom prst="line">
            <a:avLst/>
          </a:prstGeom>
          <a:noFill/>
          <a:ln w="7144">
            <a:solidFill>
              <a:srgbClr val="E3E8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72088" y="1603883"/>
            <a:ext cx="64294" cy="64294"/>
          </a:xfrm>
          <a:prstGeom prst="roundRect">
            <a:avLst>
              <a:gd name="adj" fmla="val 29630"/>
            </a:avLst>
          </a:prstGeom>
          <a:solidFill>
            <a:srgbClr val="CC33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422106" y="1553877"/>
            <a:ext cx="3264694" cy="35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Behavior trail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attendance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67.9%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78.5%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assignments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63.4%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75.2%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missed deadlines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3.4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1.9</a:t>
            </a:r>
            <a:endParaRPr lang="en-US" sz="872" dirty="0"/>
          </a:p>
        </p:txBody>
      </p:sp>
      <p:sp>
        <p:nvSpPr>
          <p:cNvPr id="12" name="Shape 9"/>
          <p:cNvSpPr/>
          <p:nvPr/>
        </p:nvSpPr>
        <p:spPr>
          <a:xfrm>
            <a:off x="5272088" y="2001255"/>
            <a:ext cx="3414713" cy="0"/>
          </a:xfrm>
          <a:prstGeom prst="line">
            <a:avLst/>
          </a:prstGeom>
          <a:noFill/>
          <a:ln w="7144">
            <a:solidFill>
              <a:srgbClr val="E3E8E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72088" y="2147701"/>
            <a:ext cx="64294" cy="64294"/>
          </a:xfrm>
          <a:prstGeom prst="roundRect">
            <a:avLst>
              <a:gd name="adj" fmla="val 29630"/>
            </a:avLst>
          </a:prstGeom>
          <a:solidFill>
            <a:srgbClr val="4C6E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422106" y="2097695"/>
            <a:ext cx="3264694" cy="3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Admission grades barely differ: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128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136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students don't arrive doomed, they disengage after arrival</a:t>
            </a:r>
            <a:endParaRPr lang="en-US" sz="872" dirty="0"/>
          </a:p>
        </p:txBody>
      </p:sp>
      <p:sp>
        <p:nvSpPr>
          <p:cNvPr id="15" name="Shape 12"/>
          <p:cNvSpPr/>
          <p:nvPr/>
        </p:nvSpPr>
        <p:spPr>
          <a:xfrm>
            <a:off x="5272088" y="2541166"/>
            <a:ext cx="3414713" cy="0"/>
          </a:xfrm>
          <a:prstGeom prst="line">
            <a:avLst/>
          </a:prstGeom>
          <a:noFill/>
          <a:ln w="7144">
            <a:solidFill>
              <a:srgbClr val="E3E8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72088" y="2687613"/>
            <a:ext cx="64294" cy="64294"/>
          </a:xfrm>
          <a:prstGeom prst="roundRect">
            <a:avLst>
              <a:gd name="adj" fmla="val 29630"/>
            </a:avLst>
          </a:prstGeom>
          <a:solidFill>
            <a:srgbClr val="CC33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422106" y="2637606"/>
            <a:ext cx="3264694" cy="35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fades first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library visits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3.2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4.9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/month, LMS logins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6.1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7.8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/week</a:t>
            </a:r>
            <a:endParaRPr lang="en-US" sz="872" dirty="0"/>
          </a:p>
        </p:txBody>
      </p:sp>
      <p:sp>
        <p:nvSpPr>
          <p:cNvPr id="18" name="Text 15"/>
          <p:cNvSpPr/>
          <p:nvPr/>
        </p:nvSpPr>
        <p:spPr>
          <a:xfrm>
            <a:off x="5272088" y="4584502"/>
            <a:ext cx="3414713" cy="7144"/>
          </a:xfrm>
          <a:prstGeom prst="rect">
            <a:avLst/>
          </a:prstGeom>
          <a:solidFill>
            <a:srgbClr val="E3E8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272088" y="4677370"/>
            <a:ext cx="34147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Effect sizes: Welch t-tests, all p &lt; 0.001, n = 100,000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314325" cy="28575"/>
          </a:xfrm>
          <a:prstGeom prst="roundRect">
            <a:avLst>
              <a:gd name="adj" fmla="val 66667"/>
            </a:avLst>
          </a:prstGeom>
          <a:solidFill>
            <a:srgbClr val="4C6E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14350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24344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Financial pressure compounds the risk</a:t>
            </a:r>
            <a:endParaRPr lang="en-US" sz="2025" dirty="0"/>
          </a:p>
        </p:txBody>
      </p:sp>
      <p:sp>
        <p:nvSpPr>
          <p:cNvPr id="4" name="Shape 2"/>
          <p:cNvSpPr/>
          <p:nvPr/>
        </p:nvSpPr>
        <p:spPr>
          <a:xfrm>
            <a:off x="467916" y="981484"/>
            <a:ext cx="0" cy="393799"/>
          </a:xfrm>
          <a:prstGeom prst="line">
            <a:avLst/>
          </a:prstGeom>
          <a:noFill/>
          <a:ln w="21431">
            <a:solidFill>
              <a:srgbClr val="CC33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2931" y="1002916"/>
            <a:ext cx="3093244" cy="35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Income gradient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Low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42.9%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Middle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30.0%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High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20.0%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(Cramér's V =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0.19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strongest categorical factor)</a:t>
            </a:r>
            <a:endParaRPr lang="en-US" sz="872" dirty="0"/>
          </a:p>
        </p:txBody>
      </p:sp>
      <p:sp>
        <p:nvSpPr>
          <p:cNvPr id="6" name="Shape 4"/>
          <p:cNvSpPr/>
          <p:nvPr/>
        </p:nvSpPr>
        <p:spPr>
          <a:xfrm>
            <a:off x="467916" y="1518158"/>
            <a:ext cx="0" cy="393799"/>
          </a:xfrm>
          <a:prstGeom prst="line">
            <a:avLst/>
          </a:prstGeom>
          <a:noFill/>
          <a:ln w="21431">
            <a:solidFill>
              <a:srgbClr val="CC33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2931" y="1539590"/>
            <a:ext cx="3093244" cy="350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Dose-response in work hours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24.7%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with no job rising to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46.0%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at 21–40 h/week: nearly doubles the risk</a:t>
            </a:r>
            <a:endParaRPr lang="en-US" sz="872" dirty="0"/>
          </a:p>
        </p:txBody>
      </p:sp>
      <p:sp>
        <p:nvSpPr>
          <p:cNvPr id="8" name="Shape 6"/>
          <p:cNvSpPr/>
          <p:nvPr/>
        </p:nvSpPr>
        <p:spPr>
          <a:xfrm>
            <a:off x="467916" y="2054833"/>
            <a:ext cx="0" cy="389892"/>
          </a:xfrm>
          <a:prstGeom prst="line">
            <a:avLst/>
          </a:prstGeom>
          <a:noFill/>
          <a:ln w="21431">
            <a:solidFill>
              <a:srgbClr val="CC33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2931" y="2076264"/>
            <a:ext cx="3093244" cy="3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Overdue tuition is a red flag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44.2%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28.7%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students current on payments</a:t>
            </a:r>
            <a:endParaRPr lang="en-US" sz="872" dirty="0"/>
          </a:p>
        </p:txBody>
      </p:sp>
      <p:sp>
        <p:nvSpPr>
          <p:cNvPr id="10" name="Shape 8"/>
          <p:cNvSpPr/>
          <p:nvPr/>
        </p:nvSpPr>
        <p:spPr>
          <a:xfrm>
            <a:off x="467916" y="2587600"/>
            <a:ext cx="0" cy="569268"/>
          </a:xfrm>
          <a:prstGeom prst="line">
            <a:avLst/>
          </a:prstGeom>
          <a:noFill/>
          <a:ln w="21431">
            <a:solidFill>
              <a:srgbClr val="4C6E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2931" y="2609031"/>
            <a:ext cx="3093244" cy="526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First-generation students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37.4%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28.1%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and the honest caveat: scholarship holders show no difference (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31.1%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vs </a:t>
            </a:r>
            <a:pPr algn="l" indent="0" marL="0">
              <a:lnSpc>
                <a:spcPts val="1351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33.2%</a:t>
            </a:r>
            <a:pPr algn="l" indent="0" marL="0">
              <a:lnSpc>
                <a:spcPts val="1351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lang="en-US" sz="872" dirty="0"/>
          </a:p>
        </p:txBody>
      </p:sp>
      <p:sp>
        <p:nvSpPr>
          <p:cNvPr id="12" name="Text 10"/>
          <p:cNvSpPr/>
          <p:nvPr/>
        </p:nvSpPr>
        <p:spPr>
          <a:xfrm>
            <a:off x="457200" y="4584502"/>
            <a:ext cx="3228975" cy="7144"/>
          </a:xfrm>
          <a:prstGeom prst="rect">
            <a:avLst/>
          </a:prstGeom>
          <a:solidFill>
            <a:srgbClr val="E3E8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4677370"/>
            <a:ext cx="322897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Chi-square independence tests + Cramér's V, all reported effects p &lt; 0.001</a:t>
            </a:r>
            <a:endParaRPr lang="en-US" sz="647" dirty="0"/>
          </a:p>
        </p:txBody>
      </p:sp>
      <p:sp>
        <p:nvSpPr>
          <p:cNvPr id="14" name="Text 12"/>
          <p:cNvSpPr/>
          <p:nvPr/>
        </p:nvSpPr>
        <p:spPr>
          <a:xfrm>
            <a:off x="3946922" y="1678000"/>
            <a:ext cx="4736306" cy="2426084"/>
          </a:xfrm>
          <a:prstGeom prst="roundRect">
            <a:avLst>
              <a:gd name="adj" fmla="val 5497"/>
            </a:avLst>
          </a:prstGeom>
          <a:solidFill>
            <a:srgbClr val="FFFFFF"/>
          </a:solidFill>
          <a:ln w="7144">
            <a:solidFill>
              <a:srgbClr val="E3E8EF"/>
            </a:solidFill>
            <a:prstDash val="solid"/>
          </a:ln>
          <a:effectLst>
            <a:outerShdw sx="100000" sy="100000" kx="0" ky="0" algn="bl" rotWithShape="0" blurRad="209550" dist="76200" dir="5400000">
              <a:srgbClr val="243447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0" descr="/tmp/h2p-fit-1792661520571-umre5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0506" y="1781584"/>
            <a:ext cx="4529138" cy="187869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050506" y="3746004"/>
            <a:ext cx="4529138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 — dropout rate by weekly work hours: 24.7% / 31.7% / 37.6% / 46.0%</a:t>
            </a:r>
            <a:endParaRPr lang="en-US" sz="800" dirty="0"/>
          </a:p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Bottom — dropout rate by tuition status: 44.2% vs 28.7%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71475"/>
            <a:ext cx="314325" cy="28575"/>
          </a:xfrm>
          <a:prstGeom prst="roundRect">
            <a:avLst>
              <a:gd name="adj" fmla="val 66667"/>
            </a:avLst>
          </a:prstGeom>
          <a:solidFill>
            <a:srgbClr val="4C6E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514350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24344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What matters most — and what to do about it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60772" y="985056"/>
            <a:ext cx="4279106" cy="2965438"/>
          </a:xfrm>
          <a:prstGeom prst="roundRect">
            <a:avLst>
              <a:gd name="adj" fmla="val 4497"/>
            </a:avLst>
          </a:prstGeom>
          <a:solidFill>
            <a:srgbClr val="FFFFFF"/>
          </a:solidFill>
          <a:ln w="7144">
            <a:solidFill>
              <a:srgbClr val="E3E8EF"/>
            </a:solidFill>
            <a:prstDash val="solid"/>
          </a:ln>
          <a:effectLst>
            <a:outerShdw sx="100000" sy="100000" kx="0" ky="0" algn="bl" rotWithShape="0" blurRad="209550" dist="76200" dir="5400000">
              <a:srgbClr val="243447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h2p-fit-1792661520698-z6dsj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356" y="1088641"/>
            <a:ext cx="4071938" cy="25493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4356" y="3723680"/>
            <a:ext cx="4071938" cy="123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647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Standardized logistic-regression ranking — red bars raise risk, indigo bars protect</a:t>
            </a:r>
            <a:endParaRPr lang="en-US" sz="647" dirty="0"/>
          </a:p>
        </p:txBody>
      </p:sp>
      <p:sp>
        <p:nvSpPr>
          <p:cNvPr id="7" name="Text 4"/>
          <p:cNvSpPr/>
          <p:nvPr/>
        </p:nvSpPr>
        <p:spPr>
          <a:xfrm>
            <a:off x="5000625" y="981484"/>
            <a:ext cx="271463" cy="271463"/>
          </a:xfrm>
          <a:prstGeom prst="ellipse">
            <a:avLst/>
          </a:prstGeom>
          <a:solidFill>
            <a:srgbClr val="243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000625" y="981484"/>
            <a:ext cx="3286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86388" y="981484"/>
            <a:ext cx="3757613" cy="1661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b="1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Flag early</a:t>
            </a:r>
            <a:endParaRPr lang="en-US" sz="956" dirty="0"/>
          </a:p>
        </p:txBody>
      </p:sp>
      <p:sp>
        <p:nvSpPr>
          <p:cNvPr id="10" name="Text 7"/>
          <p:cNvSpPr/>
          <p:nvPr/>
        </p:nvSpPr>
        <p:spPr>
          <a:xfrm>
            <a:off x="5386388" y="1175035"/>
            <a:ext cx="3300413" cy="371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semester-1 GPA </a:t>
            </a:r>
            <a:pPr algn="l" indent="0" marL="0">
              <a:lnSpc>
                <a:spcPts val="1308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 2.0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attendance </a:t>
            </a:r>
            <a:pPr algn="l" indent="0" marL="0">
              <a:lnSpc>
                <a:spcPts val="1308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 75%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→ outreach in week 1 of semester 2</a:t>
            </a:r>
            <a:endParaRPr lang="en-US" sz="872" dirty="0"/>
          </a:p>
        </p:txBody>
      </p:sp>
      <p:sp>
        <p:nvSpPr>
          <p:cNvPr id="11" name="Text 8"/>
          <p:cNvSpPr/>
          <p:nvPr/>
        </p:nvSpPr>
        <p:spPr>
          <a:xfrm>
            <a:off x="5000625" y="1661480"/>
            <a:ext cx="271463" cy="271463"/>
          </a:xfrm>
          <a:prstGeom prst="ellipse">
            <a:avLst/>
          </a:prstGeom>
          <a:solidFill>
            <a:srgbClr val="243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000625" y="1661480"/>
            <a:ext cx="3286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386388" y="1661480"/>
            <a:ext cx="3465433" cy="1661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b="1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finances</a:t>
            </a:r>
            <a:endParaRPr lang="en-US" sz="956" dirty="0"/>
          </a:p>
        </p:txBody>
      </p:sp>
      <p:sp>
        <p:nvSpPr>
          <p:cNvPr id="14" name="Text 11"/>
          <p:cNvSpPr/>
          <p:nvPr/>
        </p:nvSpPr>
        <p:spPr>
          <a:xfrm>
            <a:off x="5386388" y="1855031"/>
            <a:ext cx="3300413" cy="371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low-income students working </a:t>
            </a:r>
            <a:pPr algn="l" indent="0" marL="0">
              <a:lnSpc>
                <a:spcPts val="1308"/>
              </a:lnSpc>
              <a:buNone/>
            </a:pPr>
            <a:r>
              <a:rPr lang="en-US" sz="820" dirty="0">
                <a:solidFill>
                  <a:srgbClr val="24344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11+ h/week</a:t>
            </a:r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plus overdue tuition: three cheap, identifiable flags</a:t>
            </a:r>
            <a:endParaRPr lang="en-US" sz="872" dirty="0"/>
          </a:p>
        </p:txBody>
      </p:sp>
      <p:sp>
        <p:nvSpPr>
          <p:cNvPr id="15" name="Text 12"/>
          <p:cNvSpPr/>
          <p:nvPr/>
        </p:nvSpPr>
        <p:spPr>
          <a:xfrm>
            <a:off x="5000625" y="2341476"/>
            <a:ext cx="271463" cy="271463"/>
          </a:xfrm>
          <a:prstGeom prst="ellipse">
            <a:avLst/>
          </a:prstGeom>
          <a:solidFill>
            <a:srgbClr val="2434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000625" y="2341476"/>
            <a:ext cx="32861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386388" y="2341476"/>
            <a:ext cx="3465433" cy="1661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56" b="1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Monitor weekly</a:t>
            </a:r>
            <a:endParaRPr lang="en-US" sz="956" dirty="0"/>
          </a:p>
        </p:txBody>
      </p:sp>
      <p:sp>
        <p:nvSpPr>
          <p:cNvPr id="18" name="Text 15"/>
          <p:cNvSpPr/>
          <p:nvPr/>
        </p:nvSpPr>
        <p:spPr>
          <a:xfrm>
            <a:off x="5386388" y="2535027"/>
            <a:ext cx="3300413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72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LMS logins and attendance fall weeks before the GPA crash: real-time early warning</a:t>
            </a:r>
            <a:endParaRPr lang="en-US" sz="872" dirty="0"/>
          </a:p>
        </p:txBody>
      </p:sp>
      <p:sp>
        <p:nvSpPr>
          <p:cNvPr id="19" name="Text 16"/>
          <p:cNvSpPr/>
          <p:nvPr/>
        </p:nvSpPr>
        <p:spPr>
          <a:xfrm>
            <a:off x="5000625" y="3934197"/>
            <a:ext cx="3686175" cy="7144"/>
          </a:xfrm>
          <a:prstGeom prst="rect">
            <a:avLst/>
          </a:prstGeom>
          <a:solidFill>
            <a:srgbClr val="E3E8E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000625" y="4027066"/>
            <a:ext cx="3686175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24344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Nulls worth stating: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A5A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gender, nationality, course type and international status show no effect — risk is about circumstances and behavior, not demographics.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0" y="4457700"/>
            <a:ext cx="9144000" cy="685800"/>
          </a:xfrm>
          <a:prstGeom prst="rect">
            <a:avLst/>
          </a:prstGeom>
          <a:solidFill>
            <a:srgbClr val="EFF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0" y="4461272"/>
            <a:ext cx="9144000" cy="0"/>
          </a:xfrm>
          <a:prstGeom prst="line">
            <a:avLst/>
          </a:prstGeom>
          <a:noFill/>
          <a:ln w="7144">
            <a:solidFill>
              <a:srgbClr val="DCE4F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8688" y="4584167"/>
            <a:ext cx="7286625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24344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We can't change who students are — but the data says we don't need to. The risks that matter are the ones we can see coming.</a:t>
            </a:r>
            <a:endParaRPr lang="en-US" sz="12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2026-10-22T09:32:01Z</dcterms:created>
  <dcterms:modified xsi:type="dcterms:W3CDTF">2026-10-22T09:32:01Z</dcterms:modified>
</cp:coreProperties>
</file>